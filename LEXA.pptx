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3"/>
  </p:notesMasterIdLst>
  <p:sldIdLst>
    <p:sldId id="483" r:id="rId2"/>
    <p:sldId id="484" r:id="rId3"/>
    <p:sldId id="470" r:id="rId4"/>
    <p:sldId id="488" r:id="rId5"/>
    <p:sldId id="478" r:id="rId6"/>
    <p:sldId id="482" r:id="rId7"/>
    <p:sldId id="486" r:id="rId8"/>
    <p:sldId id="485" r:id="rId9"/>
    <p:sldId id="487" r:id="rId10"/>
    <p:sldId id="473" r:id="rId11"/>
    <p:sldId id="468" r:id="rId12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67" y="1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Anand Prakash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 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IN" sz="2000" dirty="0"/>
              <a:t>Computer Science and Engineering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dirty="0"/>
              <a:t>Dr. Asif Mohamed 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IN" sz="2000" dirty="0">
                <a:latin typeface="Arial" panose="020B0604020202020204" pitchFamily="34" charset="0"/>
              </a:rPr>
              <a:t>Dr. R. Balakrishnan</a:t>
            </a:r>
            <a:endParaRPr lang="en-IN" dirty="0">
              <a:latin typeface="Arial" panose="020B0604020202020204" pitchFamily="34" charset="0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dirty="0">
                <a:latin typeface="Arial" panose="020B0604020202020204" pitchFamily="34" charset="0"/>
                <a:ea typeface="Cambria" panose="02040503050406030204" pitchFamily="18" charset="0"/>
                <a:sym typeface="Verdana"/>
              </a:rPr>
              <a:t>Dr. Bhuvaneshwari Patil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 GPU SUMMER INTERNSHIP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662717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Sunny Kumar Dharmendra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20241CSE0743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04503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54439"/>
            <a:ext cx="11183911" cy="438376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AI GPU Summer Internship Program</a:t>
            </a:r>
            <a:endParaRPr lang="en-IN" dirty="0"/>
          </a:p>
          <a:p>
            <a:pPr lvl="0"/>
            <a:r>
              <a:rPr lang="en-IN" sz="2400" dirty="0"/>
              <a:t>Conducted by </a:t>
            </a:r>
            <a:r>
              <a:rPr lang="en-IN" sz="2400" b="1" dirty="0"/>
              <a:t>Presidency University – School of AI and Advanced Computing (GPU Computing Lab)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Focused on Artificial Intelligence, High-Performance Computing (HPC), GPU programming, and modern AI application development. </a:t>
            </a:r>
          </a:p>
          <a:p>
            <a:pPr lvl="0"/>
            <a:r>
              <a:rPr lang="en-IN" sz="2400" dirty="0"/>
              <a:t>Provided hands-on training in deep learning, Large Language Models (LLMs), computer vision, NLP, and GPU-accelerated computing. </a:t>
            </a:r>
          </a:p>
          <a:p>
            <a:pPr lvl="0"/>
            <a:r>
              <a:rPr lang="en-IN" sz="2400" dirty="0"/>
              <a:t>Students gained practical experience using NVIDIA H200 Tensor Core GPUs and industry-standard AI development tools. </a:t>
            </a:r>
          </a:p>
          <a:p>
            <a:pPr lvl="0"/>
            <a:r>
              <a:rPr lang="en-IN" sz="2400" dirty="0"/>
              <a:t>The internship emphasized solving real-world problems through end-to-end AI project development</a:t>
            </a:r>
            <a:r>
              <a:rPr lang="en-IN" dirty="0"/>
              <a:t>.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633EE-19D7-91A5-C31E-7BD47F348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1" y="136525"/>
            <a:ext cx="11782269" cy="60404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lvl="0"/>
            <a:r>
              <a:rPr lang="en-US" sz="2000" dirty="0"/>
              <a:t>CUDA Programming </a:t>
            </a:r>
          </a:p>
          <a:p>
            <a:pPr lvl="0"/>
            <a:r>
              <a:rPr lang="en-US" sz="2000" dirty="0" err="1"/>
              <a:t>PyTorch</a:t>
            </a:r>
            <a:r>
              <a:rPr lang="en-US" sz="2000" dirty="0"/>
              <a:t> Deep Learning </a:t>
            </a:r>
          </a:p>
          <a:p>
            <a:pPr lvl="0"/>
            <a:r>
              <a:rPr lang="en-US" sz="2000" dirty="0" err="1"/>
              <a:t>QLoRA</a:t>
            </a:r>
            <a:r>
              <a:rPr lang="en-US" sz="2000" dirty="0"/>
              <a:t> Fine-Tuning </a:t>
            </a:r>
          </a:p>
          <a:p>
            <a:pPr lvl="0"/>
            <a:r>
              <a:rPr lang="en-US" sz="2000" dirty="0"/>
              <a:t>Retrieval-Augmented Generation (RAG) </a:t>
            </a:r>
          </a:p>
          <a:p>
            <a:pPr lvl="0"/>
            <a:r>
              <a:rPr lang="en-US" sz="2000" dirty="0" err="1"/>
              <a:t>LangGraph</a:t>
            </a:r>
            <a:r>
              <a:rPr lang="en-US" sz="2000" dirty="0"/>
              <a:t> Multi-Agent Framework </a:t>
            </a:r>
          </a:p>
          <a:p>
            <a:pPr lvl="0"/>
            <a:r>
              <a:rPr lang="en-US" sz="2000" dirty="0" err="1"/>
              <a:t>FastAPI</a:t>
            </a:r>
            <a:r>
              <a:rPr lang="en-US" sz="2000" dirty="0"/>
              <a:t> (Python) </a:t>
            </a:r>
          </a:p>
          <a:p>
            <a:pPr lvl="0"/>
            <a:r>
              <a:rPr lang="en-US" sz="2000" dirty="0"/>
              <a:t>React &amp; TypeScript </a:t>
            </a:r>
          </a:p>
          <a:p>
            <a:pPr lvl="0"/>
            <a:r>
              <a:rPr lang="en-US" sz="2000" dirty="0" err="1"/>
              <a:t>Qdrant</a:t>
            </a:r>
            <a:r>
              <a:rPr lang="en-US" sz="2000" dirty="0"/>
              <a:t> Vector Database </a:t>
            </a:r>
          </a:p>
          <a:p>
            <a:pPr lvl="0"/>
            <a:r>
              <a:rPr lang="en-US" sz="2000" dirty="0"/>
              <a:t>Hugging Face Transformers &amp; PEFT </a:t>
            </a:r>
          </a:p>
          <a:p>
            <a:pPr lvl="0"/>
            <a:r>
              <a:rPr lang="en-US" sz="2000" dirty="0"/>
              <a:t>NVIDIA RTX 4060 GPU Deployment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61114-93D9-C3B0-A2B7-35A14ABA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652226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445" y="1"/>
            <a:ext cx="10515600" cy="914399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445" y="914400"/>
            <a:ext cx="11542425" cy="6242756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Domain:</a:t>
            </a:r>
            <a:r>
              <a:rPr lang="en-US" sz="1800" dirty="0"/>
              <a:t> Artificial Intelligence (AI), Explainable AI (XAI), Legal AI, Large Language Models (LLMs), Retrieval-Augmented Generation (RAG), Multi-Agent Systems, and High-Performance Computing (HPC).</a:t>
            </a:r>
          </a:p>
          <a:p>
            <a:pPr marL="0" indent="0">
              <a:buNone/>
            </a:pPr>
            <a:r>
              <a:rPr lang="en-US" sz="1800" b="1" dirty="0"/>
              <a:t>Technologies Used</a:t>
            </a:r>
          </a:p>
          <a:p>
            <a:pPr lvl="0"/>
            <a:r>
              <a:rPr lang="en-US" sz="1800" dirty="0"/>
              <a:t>Python, </a:t>
            </a:r>
            <a:r>
              <a:rPr lang="en-US" sz="1800" dirty="0" err="1"/>
              <a:t>FastAPI</a:t>
            </a:r>
            <a:r>
              <a:rPr lang="en-US" sz="1800" dirty="0"/>
              <a:t>, React &amp; TypeScript </a:t>
            </a:r>
          </a:p>
          <a:p>
            <a:pPr lvl="0"/>
            <a:r>
              <a:rPr lang="en-US" sz="1800" dirty="0"/>
              <a:t>Qwen2.5-3B-Instruct (Fine-tuned using </a:t>
            </a:r>
            <a:r>
              <a:rPr lang="en-US" sz="1800" dirty="0" err="1"/>
              <a:t>QLoRA</a:t>
            </a:r>
            <a:r>
              <a:rPr lang="en-US" sz="1800" dirty="0"/>
              <a:t>) </a:t>
            </a:r>
          </a:p>
          <a:p>
            <a:pPr lvl="0"/>
            <a:r>
              <a:rPr lang="en-US" sz="1800" dirty="0"/>
              <a:t>Hugging Face Transformers &amp; PEFT </a:t>
            </a:r>
          </a:p>
          <a:p>
            <a:pPr lvl="0"/>
            <a:r>
              <a:rPr lang="en-US" sz="1800" dirty="0" err="1"/>
              <a:t>LangGraph</a:t>
            </a:r>
            <a:r>
              <a:rPr lang="en-US" sz="1800" dirty="0"/>
              <a:t> Agent Orchestration </a:t>
            </a:r>
          </a:p>
          <a:p>
            <a:pPr lvl="0"/>
            <a:r>
              <a:rPr lang="en-US" sz="1800" dirty="0"/>
              <a:t>Hybrid RAG (</a:t>
            </a:r>
            <a:r>
              <a:rPr lang="en-US" sz="1800" dirty="0" err="1"/>
              <a:t>Qdrant</a:t>
            </a:r>
            <a:r>
              <a:rPr lang="en-US" sz="1800" dirty="0"/>
              <a:t> + BM25) </a:t>
            </a:r>
          </a:p>
          <a:p>
            <a:pPr lvl="0"/>
            <a:r>
              <a:rPr lang="en-US" sz="1800" dirty="0" err="1"/>
              <a:t>Ollama</a:t>
            </a:r>
            <a:r>
              <a:rPr lang="en-US" sz="1800" dirty="0"/>
              <a:t> &amp; llama.cpp </a:t>
            </a:r>
          </a:p>
          <a:p>
            <a:pPr lvl="0"/>
            <a:r>
              <a:rPr lang="en-US" sz="1800" dirty="0"/>
              <a:t>Docker Compose </a:t>
            </a:r>
          </a:p>
          <a:p>
            <a:pPr lvl="0"/>
            <a:r>
              <a:rPr lang="en-US" sz="1800" dirty="0"/>
              <a:t>NVIDIA RTX 4060 GPU </a:t>
            </a:r>
          </a:p>
          <a:p>
            <a:pPr lvl="0"/>
            <a:r>
              <a:rPr lang="en-US" sz="1800" dirty="0"/>
              <a:t>Git &amp; GitHub </a:t>
            </a:r>
          </a:p>
          <a:p>
            <a:pPr lvl="0"/>
            <a:r>
              <a:rPr lang="en-US" sz="1800" dirty="0"/>
              <a:t>IRAC-based Explainable Legal Reasoning</a:t>
            </a:r>
          </a:p>
          <a:p>
            <a:pPr lvl="0"/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1353800" cy="6548522"/>
          </a:xfrm>
        </p:spPr>
        <p:txBody>
          <a:bodyPr/>
          <a:lstStyle/>
          <a:p>
            <a:pPr lvl="0"/>
            <a:r>
              <a:rPr lang="en-US" sz="1800" dirty="0"/>
              <a:t>Develop </a:t>
            </a:r>
            <a:r>
              <a:rPr lang="en-US" sz="1800" b="1" dirty="0"/>
              <a:t>LEXA</a:t>
            </a:r>
            <a:r>
              <a:rPr lang="en-US" sz="1800" dirty="0"/>
              <a:t>, an AI-powered autonomous multi-agent courtroom intelligence system for Indian legal assistance. </a:t>
            </a:r>
          </a:p>
          <a:p>
            <a:pPr lvl="0"/>
            <a:r>
              <a:rPr lang="en-US" sz="1800" dirty="0"/>
              <a:t>Provide accurate and explainable legal reasoning based on the Bharatiya Nyaya Sanhita (BNS), Bharatiya Nagarik Suraksha Sanhita (BNSS), and Bharatiya </a:t>
            </a:r>
            <a:r>
              <a:rPr lang="en-US" sz="1800" dirty="0" err="1"/>
              <a:t>Sakshya</a:t>
            </a:r>
            <a:r>
              <a:rPr lang="en-US" sz="1800" dirty="0"/>
              <a:t> </a:t>
            </a:r>
            <a:r>
              <a:rPr lang="en-US" sz="1800" dirty="0" err="1"/>
              <a:t>Adhiniyam</a:t>
            </a:r>
            <a:r>
              <a:rPr lang="en-US" sz="1800" dirty="0"/>
              <a:t> (BSA). </a:t>
            </a:r>
          </a:p>
          <a:p>
            <a:pPr lvl="0"/>
            <a:r>
              <a:rPr lang="en-US" sz="1800" dirty="0"/>
              <a:t>Integrate a Hybrid Retrieval-Augmented Generation (RAG) framework to retrieve verified statutory information and minimize AI hallucinations. </a:t>
            </a:r>
          </a:p>
          <a:p>
            <a:pPr lvl="0"/>
            <a:r>
              <a:rPr lang="en-US" sz="1800" dirty="0"/>
              <a:t>Simulate courtroom proceedings using specialized AI agents such as Judge, Prosecutor, Defense, Jury, Evidence, and Legal Research agents. </a:t>
            </a:r>
          </a:p>
          <a:p>
            <a:pPr lvl="0"/>
            <a:r>
              <a:rPr lang="en-US" sz="1800" dirty="0"/>
              <a:t>Generate structured legal responses following the Issue, Rule, Analysis, and Conclusion (IRAC) methodology with deterministic statutory citations. </a:t>
            </a:r>
          </a:p>
          <a:p>
            <a:pPr lvl="0"/>
            <a:r>
              <a:rPr lang="en-US" sz="1800" dirty="0"/>
              <a:t>Enable complete local deployment to ensure data privacy, offline accessibility, and secure processing of sensitive legal information. </a:t>
            </a:r>
          </a:p>
          <a:p>
            <a:pPr lvl="0"/>
            <a:r>
              <a:rPr lang="en-US" sz="1800" dirty="0"/>
              <a:t>Provide a scalable foundation for future expansion into additional legal domains and multilingual legal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31" y="217852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31" y="1184367"/>
            <a:ext cx="11248869" cy="405819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LEXA Workflow</a:t>
            </a:r>
          </a:p>
          <a:p>
            <a:pPr lvl="0"/>
            <a:r>
              <a:rPr lang="en-US" sz="2400" dirty="0"/>
              <a:t>User submits legal query or case details. </a:t>
            </a:r>
          </a:p>
          <a:p>
            <a:pPr lvl="0"/>
            <a:r>
              <a:rPr lang="en-US" sz="2400" dirty="0"/>
              <a:t>Hybrid RAG retrieves relevant legal statutes. </a:t>
            </a:r>
          </a:p>
          <a:p>
            <a:pPr lvl="0"/>
            <a:r>
              <a:rPr lang="en-US" sz="2400" dirty="0"/>
              <a:t>Legal documents are processed and reranked. </a:t>
            </a:r>
          </a:p>
          <a:p>
            <a:pPr lvl="0"/>
            <a:r>
              <a:rPr lang="en-US" sz="2400" dirty="0" err="1"/>
              <a:t>LangGraph</a:t>
            </a:r>
            <a:r>
              <a:rPr lang="en-US" sz="2400" dirty="0"/>
              <a:t> coordinates eight specialized AI agents. </a:t>
            </a:r>
          </a:p>
          <a:p>
            <a:pPr lvl="0"/>
            <a:r>
              <a:rPr lang="en-US" sz="2400" dirty="0"/>
              <a:t>Fine-tuned Qwen2.5-3B generates IRAC-based legal reasoning. </a:t>
            </a:r>
          </a:p>
          <a:p>
            <a:pPr lvl="0"/>
            <a:r>
              <a:rPr lang="en-US" sz="2400" dirty="0"/>
              <a:t>Deterministic citation engine verifies statutory references. </a:t>
            </a:r>
          </a:p>
          <a:p>
            <a:pPr lvl="0"/>
            <a:r>
              <a:rPr lang="en-US" sz="2400" dirty="0"/>
              <a:t>Final explainable legal verdict with confidence score is displayed.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55" y="1365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88EE5-09AC-4198-70AB-89E00B5FC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21" y="837258"/>
            <a:ext cx="5010592" cy="25651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2BB505-D97F-61C0-F830-85A0588C1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487" y="837258"/>
            <a:ext cx="5041494" cy="2565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E318C8-14E3-ADC4-8EAF-DC099DD6A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297" y="3429000"/>
            <a:ext cx="5058967" cy="2565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901CF2-612C-55A7-4405-86A0B50BE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3487" y="3425368"/>
            <a:ext cx="5010592" cy="256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864" y="141726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64" y="878734"/>
            <a:ext cx="10515600" cy="5660178"/>
          </a:xfrm>
        </p:spPr>
        <p:txBody>
          <a:bodyPr/>
          <a:lstStyle/>
          <a:p>
            <a:pPr lvl="0"/>
            <a:r>
              <a:rPr lang="en-US" sz="2000" dirty="0"/>
              <a:t>Successfully developed </a:t>
            </a:r>
            <a:r>
              <a:rPr lang="en-US" sz="2000" b="1" dirty="0"/>
              <a:t>LEXA</a:t>
            </a:r>
            <a:r>
              <a:rPr lang="en-US" sz="2000" dirty="0"/>
              <a:t>, an autonomous multi-agent courtroom intelligence system for Indian legal assistance. </a:t>
            </a:r>
          </a:p>
          <a:p>
            <a:pPr lvl="0"/>
            <a:r>
              <a:rPr lang="en-US" sz="2000" dirty="0"/>
              <a:t>Integrated a </a:t>
            </a:r>
            <a:r>
              <a:rPr lang="en-US" sz="2000" b="1" dirty="0"/>
              <a:t>Hybrid Retrieval-Augmented Generation (RAG)</a:t>
            </a:r>
            <a:r>
              <a:rPr lang="en-US" sz="2000" dirty="0"/>
              <a:t> framework with a fine-tuned </a:t>
            </a:r>
            <a:r>
              <a:rPr lang="en-US" sz="2000" b="1" dirty="0"/>
              <a:t>Qwen2.5-3B-Instruct</a:t>
            </a:r>
            <a:r>
              <a:rPr lang="en-US" sz="2000" dirty="0"/>
              <a:t> model to provide accurate, explainable, and citation-backed legal reasoning. </a:t>
            </a:r>
          </a:p>
          <a:p>
            <a:pPr lvl="0"/>
            <a:r>
              <a:rPr lang="en-US" sz="2000" dirty="0"/>
              <a:t>Implemented </a:t>
            </a:r>
            <a:r>
              <a:rPr lang="en-US" sz="2000" b="1" dirty="0"/>
              <a:t>eight specialized AI agents</a:t>
            </a:r>
            <a:r>
              <a:rPr lang="en-US" sz="2000" dirty="0"/>
              <a:t> to simulate courtroom proceedings, including legal research, evidence analysis, prosecution, defense, judgment, jury evaluation, contradiction detection, and appeal review. </a:t>
            </a:r>
          </a:p>
          <a:p>
            <a:pPr lvl="0"/>
            <a:r>
              <a:rPr lang="en-US" sz="2000" dirty="0"/>
              <a:t>Achieved reliable performance through deterministic citation mapping, structured </a:t>
            </a:r>
            <a:r>
              <a:rPr lang="en-US" sz="2000" b="1" dirty="0"/>
              <a:t>IRAC-based reasoning</a:t>
            </a:r>
            <a:r>
              <a:rPr lang="en-US" sz="2000" dirty="0"/>
              <a:t>, and significantly reduced AI hallucinations. </a:t>
            </a:r>
          </a:p>
          <a:p>
            <a:pPr lvl="0"/>
            <a:r>
              <a:rPr lang="en-US" sz="2000" dirty="0"/>
              <a:t>Enabled complete </a:t>
            </a:r>
            <a:r>
              <a:rPr lang="en-US" sz="2000" b="1" dirty="0"/>
              <a:t>local deployment</a:t>
            </a:r>
            <a:r>
              <a:rPr lang="en-US" sz="2000" dirty="0"/>
              <a:t> using </a:t>
            </a:r>
            <a:r>
              <a:rPr lang="en-US" sz="2000" dirty="0" err="1"/>
              <a:t>FastAPI</a:t>
            </a:r>
            <a:r>
              <a:rPr lang="en-US" sz="2000" dirty="0"/>
              <a:t>, React, </a:t>
            </a:r>
            <a:r>
              <a:rPr lang="en-US" sz="2000" dirty="0" err="1"/>
              <a:t>LangGraph</a:t>
            </a:r>
            <a:r>
              <a:rPr lang="en-US" sz="2000" dirty="0"/>
              <a:t>, </a:t>
            </a:r>
            <a:r>
              <a:rPr lang="en-US" sz="2000" dirty="0" err="1"/>
              <a:t>Qdrant</a:t>
            </a:r>
            <a:r>
              <a:rPr lang="en-US" sz="2000" dirty="0"/>
              <a:t>, </a:t>
            </a:r>
            <a:r>
              <a:rPr lang="en-US" sz="2000" dirty="0" err="1"/>
              <a:t>Ollama</a:t>
            </a:r>
            <a:r>
              <a:rPr lang="en-US" sz="2000" dirty="0"/>
              <a:t>, and Docker, ensuring data privacy and offline accessibility. </a:t>
            </a:r>
          </a:p>
          <a:p>
            <a:pPr lvl="0"/>
            <a:r>
              <a:rPr lang="en-US" sz="2000" dirty="0"/>
              <a:t>Demonstrated the practical application of Artificial Intelligence, Large Language Models, Retrieval-Augmented Generation, and Multi-Agent Systems in solving real-world legal research and decision-support challenges.</a:t>
            </a:r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7834</TotalTime>
  <Words>709</Words>
  <Application>Microsoft Office PowerPoint</Application>
  <PresentationFormat>Widescreen</PresentationFormat>
  <Paragraphs>93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PowerPoint Presentation</vt:lpstr>
      <vt:lpstr>Working domain or the technology</vt:lpstr>
      <vt:lpstr>Objectives of the work</vt:lpstr>
      <vt:lpstr>Methodology Used / Course Description </vt:lpstr>
      <vt:lpstr>Results 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DHARMENDRA SHARMA</cp:lastModifiedBy>
  <cp:revision>945</cp:revision>
  <cp:lastPrinted>2018-07-24T06:37:20Z</cp:lastPrinted>
  <dcterms:created xsi:type="dcterms:W3CDTF">2018-06-07T04:06:17Z</dcterms:created>
  <dcterms:modified xsi:type="dcterms:W3CDTF">2026-08-08T03:57:49Z</dcterms:modified>
</cp:coreProperties>
</file>